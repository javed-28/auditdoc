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658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70768" y="1928852"/>
            <a:ext cx="7746462" cy="536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300" b="1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300" b="1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300" b="1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300" b="1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4432" y="1095203"/>
            <a:ext cx="13450603" cy="313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300" b="1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21993" y="4326241"/>
            <a:ext cx="9547860" cy="2456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F2F2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95369" y="7120457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30" y="0"/>
                </a:moveTo>
                <a:lnTo>
                  <a:pt x="1614512" y="0"/>
                </a:lnTo>
                <a:lnTo>
                  <a:pt x="1567230" y="3124"/>
                </a:lnTo>
                <a:lnTo>
                  <a:pt x="1521155" y="12331"/>
                </a:lnTo>
                <a:lnTo>
                  <a:pt x="1476844" y="27381"/>
                </a:lnTo>
                <a:lnTo>
                  <a:pt x="1434871" y="48069"/>
                </a:lnTo>
                <a:lnTo>
                  <a:pt x="1395780" y="74129"/>
                </a:lnTo>
                <a:lnTo>
                  <a:pt x="1360144" y="105359"/>
                </a:lnTo>
                <a:lnTo>
                  <a:pt x="1328915" y="141008"/>
                </a:lnTo>
                <a:lnTo>
                  <a:pt x="1302842" y="180098"/>
                </a:lnTo>
                <a:lnTo>
                  <a:pt x="1282153" y="222072"/>
                </a:lnTo>
                <a:lnTo>
                  <a:pt x="1267104" y="266382"/>
                </a:lnTo>
                <a:lnTo>
                  <a:pt x="1257896" y="312445"/>
                </a:lnTo>
                <a:lnTo>
                  <a:pt x="1254772" y="359740"/>
                </a:lnTo>
                <a:lnTo>
                  <a:pt x="1254772" y="2055355"/>
                </a:lnTo>
                <a:lnTo>
                  <a:pt x="1251496" y="2104174"/>
                </a:lnTo>
                <a:lnTo>
                  <a:pt x="1241920" y="2150986"/>
                </a:lnTo>
                <a:lnTo>
                  <a:pt x="1226502" y="2195385"/>
                </a:lnTo>
                <a:lnTo>
                  <a:pt x="1205661" y="2236927"/>
                </a:lnTo>
                <a:lnTo>
                  <a:pt x="1179817" y="2275179"/>
                </a:lnTo>
                <a:lnTo>
                  <a:pt x="1149413" y="2309723"/>
                </a:lnTo>
                <a:lnTo>
                  <a:pt x="1114869" y="2340140"/>
                </a:lnTo>
                <a:lnTo>
                  <a:pt x="1076604" y="2365972"/>
                </a:lnTo>
                <a:lnTo>
                  <a:pt x="1035062" y="2386825"/>
                </a:lnTo>
                <a:lnTo>
                  <a:pt x="990676" y="2402243"/>
                </a:lnTo>
                <a:lnTo>
                  <a:pt x="943851" y="2411806"/>
                </a:lnTo>
                <a:lnTo>
                  <a:pt x="895045" y="2415095"/>
                </a:lnTo>
                <a:lnTo>
                  <a:pt x="359740" y="2415095"/>
                </a:lnTo>
                <a:lnTo>
                  <a:pt x="310921" y="2418372"/>
                </a:lnTo>
                <a:lnTo>
                  <a:pt x="264109" y="2427948"/>
                </a:lnTo>
                <a:lnTo>
                  <a:pt x="219710" y="2443365"/>
                </a:lnTo>
                <a:lnTo>
                  <a:pt x="178168" y="2464206"/>
                </a:lnTo>
                <a:lnTo>
                  <a:pt x="139915" y="2490051"/>
                </a:lnTo>
                <a:lnTo>
                  <a:pt x="105371" y="2520454"/>
                </a:lnTo>
                <a:lnTo>
                  <a:pt x="74955" y="2554998"/>
                </a:lnTo>
                <a:lnTo>
                  <a:pt x="49123" y="2593263"/>
                </a:lnTo>
                <a:lnTo>
                  <a:pt x="28270" y="2634805"/>
                </a:lnTo>
                <a:lnTo>
                  <a:pt x="12852" y="2679192"/>
                </a:lnTo>
                <a:lnTo>
                  <a:pt x="3289" y="2726004"/>
                </a:lnTo>
                <a:lnTo>
                  <a:pt x="0" y="2774823"/>
                </a:lnTo>
                <a:lnTo>
                  <a:pt x="0" y="3166541"/>
                </a:lnTo>
                <a:lnTo>
                  <a:pt x="152400" y="3166541"/>
                </a:lnTo>
                <a:lnTo>
                  <a:pt x="1792630" y="3166541"/>
                </a:lnTo>
                <a:lnTo>
                  <a:pt x="1792630" y="152400"/>
                </a:lnTo>
                <a:lnTo>
                  <a:pt x="1792630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95400" y="800100"/>
            <a:ext cx="15773400" cy="56906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r>
              <a:rPr lang="en-US" sz="9600" b="1" dirty="0" err="1"/>
              <a:t>AuditDoc</a:t>
            </a:r>
            <a:r>
              <a:rPr lang="en-US" sz="9600" b="1" dirty="0"/>
              <a:t> – AI Powered Document Audit System</a:t>
            </a:r>
            <a:endParaRPr lang="en-US" sz="9600" dirty="0"/>
          </a:p>
          <a:p>
            <a:r>
              <a:rPr lang="en-US" sz="9600" b="1" dirty="0"/>
              <a:t> </a:t>
            </a:r>
            <a:endParaRPr lang="en-US" sz="9600" dirty="0"/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endParaRPr sz="8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5400" y="4914900"/>
            <a:ext cx="10439400" cy="2531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2F2F2F"/>
                </a:solidFill>
                <a:latin typeface="Trebuchet MS"/>
                <a:cs typeface="Trebuchet MS"/>
              </a:rPr>
              <a:t>Presented</a:t>
            </a:r>
            <a:r>
              <a:rPr sz="5400" spc="-110" dirty="0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sz="5400" dirty="0">
                <a:solidFill>
                  <a:srgbClr val="2F2F2F"/>
                </a:solidFill>
                <a:latin typeface="Trebuchet MS"/>
                <a:cs typeface="Trebuchet MS"/>
              </a:rPr>
              <a:t>by</a:t>
            </a:r>
            <a:r>
              <a:rPr sz="5400" spc="-110" dirty="0">
                <a:solidFill>
                  <a:srgbClr val="2F2F2F"/>
                </a:solidFill>
                <a:latin typeface="Trebuchet MS"/>
                <a:cs typeface="Trebuchet MS"/>
              </a:rPr>
              <a:t> </a:t>
            </a:r>
            <a:r>
              <a:rPr lang="en-US" sz="5400" spc="-110" dirty="0" smtClean="0">
                <a:solidFill>
                  <a:srgbClr val="2F2F2F"/>
                </a:solidFill>
                <a:latin typeface="Trebuchet MS"/>
                <a:cs typeface="Trebuchet MS"/>
              </a:rPr>
              <a:t>Team</a:t>
            </a:r>
            <a:r>
              <a:rPr sz="5400" dirty="0" smtClean="0">
                <a:solidFill>
                  <a:srgbClr val="2F2F2F"/>
                </a:solidFill>
                <a:latin typeface="Trebuchet MS"/>
                <a:cs typeface="Trebuchet MS"/>
              </a:rPr>
              <a:t>(</a:t>
            </a:r>
            <a:r>
              <a:rPr lang="en-US" sz="5400" dirty="0" smtClean="0">
                <a:solidFill>
                  <a:srgbClr val="2F2F2F"/>
                </a:solidFill>
                <a:latin typeface="Trebuchet MS"/>
                <a:cs typeface="Trebuchet MS"/>
              </a:rPr>
              <a:t>J&amp;K</a:t>
            </a:r>
            <a:r>
              <a:rPr sz="5400" spc="-10" dirty="0" smtClean="0">
                <a:solidFill>
                  <a:srgbClr val="2F2F2F"/>
                </a:solidFill>
                <a:latin typeface="Trebuchet MS"/>
                <a:cs typeface="Trebuchet MS"/>
              </a:rPr>
              <a:t>)</a:t>
            </a:r>
            <a:endParaRPr lang="en-US" sz="5400" spc="-10" dirty="0" smtClean="0">
              <a:solidFill>
                <a:srgbClr val="2F2F2F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spc="-10" dirty="0" smtClean="0">
                <a:solidFill>
                  <a:srgbClr val="2F2F2F"/>
                </a:solidFill>
                <a:latin typeface="Trebuchet MS"/>
                <a:cs typeface="Trebuchet MS"/>
              </a:rPr>
              <a:t>1.Javed </a:t>
            </a:r>
            <a:r>
              <a:rPr lang="en-US" sz="5400" spc="-10" dirty="0" err="1" smtClean="0">
                <a:solidFill>
                  <a:srgbClr val="2F2F2F"/>
                </a:solidFill>
                <a:latin typeface="Trebuchet MS"/>
                <a:cs typeface="Trebuchet MS"/>
              </a:rPr>
              <a:t>Hussain</a:t>
            </a:r>
            <a:r>
              <a:rPr lang="en-US" sz="5400" spc="-10" dirty="0" smtClean="0">
                <a:solidFill>
                  <a:srgbClr val="2F2F2F"/>
                </a:solidFill>
                <a:latin typeface="Trebuchet MS"/>
                <a:cs typeface="Trebuchet MS"/>
              </a:rPr>
              <a:t>(10300323066)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spc="-10" dirty="0" smtClean="0">
                <a:solidFill>
                  <a:srgbClr val="2F2F2F"/>
                </a:solidFill>
                <a:latin typeface="Trebuchet MS"/>
                <a:cs typeface="Trebuchet MS"/>
              </a:rPr>
              <a:t>2.Khushi </a:t>
            </a:r>
            <a:r>
              <a:rPr lang="en-US" sz="5400" spc="-10" dirty="0" err="1" smtClean="0">
                <a:solidFill>
                  <a:srgbClr val="2F2F2F"/>
                </a:solidFill>
                <a:latin typeface="Trebuchet MS"/>
                <a:cs typeface="Trebuchet MS"/>
              </a:rPr>
              <a:t>Kumari</a:t>
            </a:r>
            <a:r>
              <a:rPr lang="en-US" sz="5400" spc="-10" dirty="0" smtClean="0">
                <a:solidFill>
                  <a:srgbClr val="2F2F2F"/>
                </a:solidFill>
                <a:latin typeface="Trebuchet MS"/>
                <a:cs typeface="Trebuchet MS"/>
              </a:rPr>
              <a:t>(10300323068)</a:t>
            </a:r>
            <a:endParaRPr sz="5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1927860" cy="2903220"/>
          </a:xfrm>
          <a:custGeom>
            <a:avLst/>
            <a:gdLst/>
            <a:ahLst/>
            <a:cxnLst/>
            <a:rect l="l" t="t" r="r" b="b"/>
            <a:pathLst>
              <a:path w="1927860" h="290322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"/>
          <p:cNvSpPr/>
          <p:nvPr/>
        </p:nvSpPr>
        <p:spPr>
          <a:xfrm>
            <a:off x="16647769" y="7272857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30" y="0"/>
                </a:moveTo>
                <a:lnTo>
                  <a:pt x="1614512" y="0"/>
                </a:lnTo>
                <a:lnTo>
                  <a:pt x="1567230" y="3124"/>
                </a:lnTo>
                <a:lnTo>
                  <a:pt x="1521155" y="12331"/>
                </a:lnTo>
                <a:lnTo>
                  <a:pt x="1476844" y="27381"/>
                </a:lnTo>
                <a:lnTo>
                  <a:pt x="1434871" y="48069"/>
                </a:lnTo>
                <a:lnTo>
                  <a:pt x="1395780" y="74129"/>
                </a:lnTo>
                <a:lnTo>
                  <a:pt x="1360144" y="105359"/>
                </a:lnTo>
                <a:lnTo>
                  <a:pt x="1328915" y="141008"/>
                </a:lnTo>
                <a:lnTo>
                  <a:pt x="1302842" y="180098"/>
                </a:lnTo>
                <a:lnTo>
                  <a:pt x="1282153" y="222072"/>
                </a:lnTo>
                <a:lnTo>
                  <a:pt x="1267104" y="266382"/>
                </a:lnTo>
                <a:lnTo>
                  <a:pt x="1257896" y="312445"/>
                </a:lnTo>
                <a:lnTo>
                  <a:pt x="1254772" y="359740"/>
                </a:lnTo>
                <a:lnTo>
                  <a:pt x="1254772" y="2055355"/>
                </a:lnTo>
                <a:lnTo>
                  <a:pt x="1251496" y="2104174"/>
                </a:lnTo>
                <a:lnTo>
                  <a:pt x="1241920" y="2150986"/>
                </a:lnTo>
                <a:lnTo>
                  <a:pt x="1226502" y="2195385"/>
                </a:lnTo>
                <a:lnTo>
                  <a:pt x="1205661" y="2236927"/>
                </a:lnTo>
                <a:lnTo>
                  <a:pt x="1179817" y="2275179"/>
                </a:lnTo>
                <a:lnTo>
                  <a:pt x="1149413" y="2309723"/>
                </a:lnTo>
                <a:lnTo>
                  <a:pt x="1114869" y="2340140"/>
                </a:lnTo>
                <a:lnTo>
                  <a:pt x="1076604" y="2365972"/>
                </a:lnTo>
                <a:lnTo>
                  <a:pt x="1035062" y="2386825"/>
                </a:lnTo>
                <a:lnTo>
                  <a:pt x="990676" y="2402243"/>
                </a:lnTo>
                <a:lnTo>
                  <a:pt x="943851" y="2411806"/>
                </a:lnTo>
                <a:lnTo>
                  <a:pt x="895045" y="2415095"/>
                </a:lnTo>
                <a:lnTo>
                  <a:pt x="359740" y="2415095"/>
                </a:lnTo>
                <a:lnTo>
                  <a:pt x="310921" y="2418372"/>
                </a:lnTo>
                <a:lnTo>
                  <a:pt x="264109" y="2427948"/>
                </a:lnTo>
                <a:lnTo>
                  <a:pt x="219710" y="2443365"/>
                </a:lnTo>
                <a:lnTo>
                  <a:pt x="178168" y="2464206"/>
                </a:lnTo>
                <a:lnTo>
                  <a:pt x="139915" y="2490051"/>
                </a:lnTo>
                <a:lnTo>
                  <a:pt x="105371" y="2520454"/>
                </a:lnTo>
                <a:lnTo>
                  <a:pt x="74955" y="2554998"/>
                </a:lnTo>
                <a:lnTo>
                  <a:pt x="49123" y="2593263"/>
                </a:lnTo>
                <a:lnTo>
                  <a:pt x="28270" y="2634805"/>
                </a:lnTo>
                <a:lnTo>
                  <a:pt x="12852" y="2679192"/>
                </a:lnTo>
                <a:lnTo>
                  <a:pt x="3289" y="2726004"/>
                </a:lnTo>
                <a:lnTo>
                  <a:pt x="0" y="2774823"/>
                </a:lnTo>
                <a:lnTo>
                  <a:pt x="0" y="3166541"/>
                </a:lnTo>
                <a:lnTo>
                  <a:pt x="152400" y="3166541"/>
                </a:lnTo>
                <a:lnTo>
                  <a:pt x="1792630" y="3166541"/>
                </a:lnTo>
                <a:lnTo>
                  <a:pt x="1792630" y="152400"/>
                </a:lnTo>
                <a:lnTo>
                  <a:pt x="1792630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74432" y="-2095500"/>
            <a:ext cx="13450603" cy="6322687"/>
          </a:xfrm>
          <a:prstGeom prst="rect">
            <a:avLst/>
          </a:prstGeom>
        </p:spPr>
        <p:txBody>
          <a:bodyPr vert="horz" wrap="square" lIns="0" tIns="1552379" rIns="0" bIns="0" rtlCol="0">
            <a:spAutoFit/>
          </a:bodyPr>
          <a:lstStyle/>
          <a:p>
            <a:pPr marL="2265680">
              <a:lnSpc>
                <a:spcPct val="100000"/>
              </a:lnSpc>
              <a:spcBef>
                <a:spcPts val="114"/>
              </a:spcBef>
            </a:pPr>
            <a:r>
              <a:rPr lang="en-US" spc="-325" dirty="0" smtClean="0"/>
              <a:t/>
            </a:r>
            <a:br>
              <a:rPr lang="en-US" spc="-325" dirty="0" smtClean="0"/>
            </a:br>
            <a:r>
              <a:rPr spc="-325" dirty="0" smtClean="0"/>
              <a:t>INTRODUCTION</a:t>
            </a:r>
            <a:r>
              <a:rPr lang="en-US" spc="-325" dirty="0" smtClean="0"/>
              <a:t/>
            </a:r>
            <a:br>
              <a:rPr lang="en-US" spc="-325" dirty="0" smtClean="0"/>
            </a:br>
            <a:endParaRPr spc="-325" dirty="0"/>
          </a:p>
        </p:txBody>
      </p:sp>
      <p:sp>
        <p:nvSpPr>
          <p:cNvPr id="11" name="object 11"/>
          <p:cNvSpPr/>
          <p:nvPr/>
        </p:nvSpPr>
        <p:spPr>
          <a:xfrm>
            <a:off x="16495377" y="7120455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1927860" cy="2903220"/>
          </a:xfrm>
          <a:custGeom>
            <a:avLst/>
            <a:gdLst/>
            <a:ahLst/>
            <a:cxnLst/>
            <a:rect l="l" t="t" r="r" b="b"/>
            <a:pathLst>
              <a:path w="1927860" h="290322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0" y="2857500"/>
            <a:ext cx="7239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Clearly Define the Problem</a:t>
            </a:r>
          </a:p>
          <a:p>
            <a:r>
              <a:rPr lang="en-US" sz="2000" dirty="0" smtClean="0"/>
              <a:t>Organizations handle thousands of documents daily such as invoices, contracts, reports, and financial records.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Most document auditing is still done manually, which is: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Time-consuming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Error-prone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Repetitive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Inconsistent</a:t>
            </a:r>
          </a:p>
          <a:p>
            <a:endParaRPr lang="en-US" sz="2000" dirty="0" smtClean="0"/>
          </a:p>
          <a:p>
            <a:r>
              <a:rPr lang="en-US" sz="2000" dirty="0" smtClean="0"/>
              <a:t>Manual verification increases operational costs and slows down decision-making.</a:t>
            </a:r>
          </a:p>
          <a:p>
            <a:endParaRPr 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7924800" y="2857500"/>
            <a:ext cx="78486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Whom Does It Affect? (Target Users)</a:t>
            </a:r>
          </a:p>
          <a:p>
            <a:r>
              <a:rPr lang="en-US" sz="2000" dirty="0" err="1" smtClean="0"/>
              <a:t>AuditDoc</a:t>
            </a:r>
            <a:r>
              <a:rPr lang="en-US" sz="2000" dirty="0" smtClean="0"/>
              <a:t> is designed for:</a:t>
            </a:r>
          </a:p>
          <a:p>
            <a:endParaRPr lang="en-US" sz="2000" dirty="0" smtClean="0"/>
          </a:p>
          <a:p>
            <a:r>
              <a:rPr lang="en-US" sz="2000" dirty="0" smtClean="0"/>
              <a:t>🏢 Businesses and Enterprises</a:t>
            </a:r>
          </a:p>
          <a:p>
            <a:r>
              <a:rPr lang="en-US" sz="2000" dirty="0" smtClean="0"/>
              <a:t>📊 Finance &amp; Accounting Teams</a:t>
            </a:r>
          </a:p>
          <a:p>
            <a:r>
              <a:rPr lang="en-US" sz="2000" dirty="0" smtClean="0"/>
              <a:t>🏛 Compliance and Audit Departments</a:t>
            </a:r>
          </a:p>
          <a:p>
            <a:r>
              <a:rPr lang="en-US" sz="2000" dirty="0" smtClean="0"/>
              <a:t>📄 Document Management Teams</a:t>
            </a:r>
          </a:p>
          <a:p>
            <a:r>
              <a:rPr lang="en-US" sz="2000" dirty="0" smtClean="0"/>
              <a:t>🧑‍💼 Startups handling large digital records</a:t>
            </a:r>
          </a:p>
          <a:p>
            <a:endParaRPr lang="en-US" sz="2000" dirty="0" smtClean="0"/>
          </a:p>
          <a:p>
            <a:r>
              <a:rPr lang="en-US" sz="2000" dirty="0" smtClean="0"/>
              <a:t>Anyone dealing with high-volume document verification can benefit from automation.</a:t>
            </a:r>
          </a:p>
          <a:p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7353300"/>
            <a:ext cx="1509602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Real-World Relevance</a:t>
            </a:r>
          </a:p>
          <a:p>
            <a:r>
              <a:rPr lang="en-US" sz="2000" dirty="0" smtClean="0"/>
              <a:t>In large organizations, auditing and document verification consume significant employee hours daily. Automating even a portion of this process: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Reduces workload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Improves accuracy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Speeds up operations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Enhances productivity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r>
              <a:rPr lang="en-US" sz="2000" dirty="0" smtClean="0"/>
              <a:t>This creates a strong need for an AI-powered document auditing solution like </a:t>
            </a:r>
            <a:r>
              <a:rPr lang="en-US" sz="2000" b="1" dirty="0" err="1" smtClean="0"/>
              <a:t>AuditDoc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432" y="-266699"/>
            <a:ext cx="13450603" cy="2991847"/>
          </a:xfrm>
          <a:prstGeom prst="rect">
            <a:avLst/>
          </a:prstGeom>
        </p:spPr>
        <p:txBody>
          <a:bodyPr vert="horz" wrap="square" lIns="0" tIns="1393192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14"/>
              </a:spcBef>
            </a:pPr>
            <a:r>
              <a:rPr spc="-290" dirty="0"/>
              <a:t>SOLUTION</a:t>
            </a:r>
            <a:r>
              <a:rPr spc="-215" dirty="0"/>
              <a:t> </a:t>
            </a:r>
            <a:r>
              <a:rPr spc="-425" dirty="0"/>
              <a:t>/APPROACH</a:t>
            </a:r>
          </a:p>
        </p:txBody>
      </p:sp>
      <p:sp>
        <p:nvSpPr>
          <p:cNvPr id="8" name="object 8"/>
          <p:cNvSpPr/>
          <p:nvPr/>
        </p:nvSpPr>
        <p:spPr>
          <a:xfrm>
            <a:off x="16495377" y="7120455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1927860" cy="2903220"/>
          </a:xfrm>
          <a:custGeom>
            <a:avLst/>
            <a:gdLst/>
            <a:ahLst/>
            <a:cxnLst/>
            <a:rect l="l" t="t" r="r" b="b"/>
            <a:pathLst>
              <a:path w="1927860" h="290322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2400" y="3162300"/>
            <a:ext cx="69342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How </a:t>
            </a:r>
            <a:r>
              <a:rPr lang="en-US" sz="2400" b="1" dirty="0" err="1" smtClean="0"/>
              <a:t>AuditDoc</a:t>
            </a:r>
            <a:r>
              <a:rPr lang="en-US" sz="2400" b="1" dirty="0" smtClean="0"/>
              <a:t> Solves the Problem</a:t>
            </a:r>
          </a:p>
          <a:p>
            <a:endParaRPr lang="en-US" b="1" dirty="0" smtClean="0"/>
          </a:p>
          <a:p>
            <a:r>
              <a:rPr lang="en-US" sz="2000" b="1" dirty="0" smtClean="0"/>
              <a:t>🔹 Automation Instead of Manual Work</a:t>
            </a:r>
          </a:p>
          <a:p>
            <a:r>
              <a:rPr lang="en-US" sz="2000" dirty="0" err="1" smtClean="0"/>
              <a:t>AuditDoc</a:t>
            </a:r>
            <a:r>
              <a:rPr lang="en-US" sz="2000" dirty="0" smtClean="0"/>
              <a:t> replaces manual document checking with automated analysis, reducing human effort and errors.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Instant Structured Output</a:t>
            </a:r>
          </a:p>
          <a:p>
            <a:r>
              <a:rPr lang="en-US" sz="2000" dirty="0" smtClean="0"/>
              <a:t>Uploaded documents are processed and converted into structured JSON results within seconds.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Intelligent Field Extraction</a:t>
            </a:r>
          </a:p>
          <a:p>
            <a:r>
              <a:rPr lang="en-US" sz="2000" dirty="0" smtClean="0"/>
              <a:t>The system extracts important fields (e.g., invoice number, date, amount) automatically.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Confidence Scoring</a:t>
            </a:r>
          </a:p>
          <a:p>
            <a:r>
              <a:rPr lang="en-US" sz="2000" dirty="0" smtClean="0"/>
              <a:t>Each document is assigned a confidence score to measure reliability of extracted data.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Clear Visualization</a:t>
            </a:r>
          </a:p>
          <a:p>
            <a:r>
              <a:rPr lang="en-US" sz="2000" dirty="0" smtClean="0"/>
              <a:t>Results are displayed in an interactive dashboard with insights and organized output panels.</a:t>
            </a:r>
          </a:p>
          <a:p>
            <a:endParaRPr 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7620000" y="3162300"/>
            <a:ext cx="416973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Key Features &amp; Functionalities</a:t>
            </a:r>
          </a:p>
          <a:p>
            <a:r>
              <a:rPr lang="en-US" sz="2000" dirty="0" smtClean="0"/>
              <a:t>📄 Document Upload System</a:t>
            </a:r>
          </a:p>
          <a:p>
            <a:r>
              <a:rPr lang="en-US" sz="2000" dirty="0" smtClean="0"/>
              <a:t>⚙ Backend Processing Engine     (Flask)</a:t>
            </a:r>
          </a:p>
          <a:p>
            <a:r>
              <a:rPr lang="en-US" sz="2000" dirty="0" smtClean="0"/>
              <a:t>📊 Structured JSON and TXT Output </a:t>
            </a:r>
          </a:p>
          <a:p>
            <a:r>
              <a:rPr lang="en-US" sz="2000" dirty="0" smtClean="0"/>
              <a:t>📈 Confidence Score Display</a:t>
            </a:r>
          </a:p>
          <a:p>
            <a:r>
              <a:rPr lang="en-US" sz="2000" dirty="0" smtClean="0"/>
              <a:t>🎨 Modern React Dashboard UI</a:t>
            </a:r>
          </a:p>
          <a:p>
            <a:r>
              <a:rPr lang="en-US" sz="2000" dirty="0" smtClean="0"/>
              <a:t>🔗 REST API Communication</a:t>
            </a:r>
          </a:p>
          <a:p>
            <a:r>
              <a:rPr lang="en-US" sz="2000" dirty="0" smtClean="0"/>
              <a:t>🧩 Modular &amp; Scalable Architecture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12115801" y="3162300"/>
            <a:ext cx="6172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What Makes </a:t>
            </a:r>
            <a:r>
              <a:rPr lang="en-US" sz="2400" b="1" dirty="0" err="1" smtClean="0"/>
              <a:t>AuditDoc</a:t>
            </a:r>
            <a:r>
              <a:rPr lang="en-US" sz="2400" b="1" dirty="0" smtClean="0"/>
              <a:t> Unique?</a:t>
            </a:r>
          </a:p>
          <a:p>
            <a:r>
              <a:rPr lang="en-US" sz="2000" b="1" dirty="0" smtClean="0"/>
              <a:t>🔹 Full-Stack Integration</a:t>
            </a:r>
          </a:p>
          <a:p>
            <a:r>
              <a:rPr lang="en-US" sz="2000" dirty="0" smtClean="0"/>
              <a:t>Unlike simple document checkers, </a:t>
            </a:r>
            <a:r>
              <a:rPr lang="en-US" sz="2000" dirty="0" err="1" smtClean="0"/>
              <a:t>AuditDoc</a:t>
            </a:r>
            <a:r>
              <a:rPr lang="en-US" sz="2000" dirty="0" smtClean="0"/>
              <a:t> provides a complete frontend + backend solution.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Clean &amp; Interactive UI</a:t>
            </a:r>
          </a:p>
          <a:p>
            <a:r>
              <a:rPr lang="en-US" sz="2000" dirty="0" smtClean="0"/>
              <a:t>Most traditional tools focus only on backend processing. </a:t>
            </a:r>
            <a:r>
              <a:rPr lang="en-US" sz="2000" dirty="0" err="1" smtClean="0"/>
              <a:t>AuditDoc</a:t>
            </a:r>
            <a:r>
              <a:rPr lang="en-US" sz="2000" dirty="0" smtClean="0"/>
              <a:t> combines intelligent logic with a user-friendly dashboard.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Structured, Developer-Friendly Output</a:t>
            </a:r>
          </a:p>
          <a:p>
            <a:r>
              <a:rPr lang="en-US" sz="2000" dirty="0" smtClean="0"/>
              <a:t>JSON output makes it easy to integrate with other enterprise systems.</a:t>
            </a:r>
          </a:p>
          <a:p>
            <a:endParaRPr lang="en-US" sz="2000" dirty="0" smtClean="0"/>
          </a:p>
          <a:p>
            <a:r>
              <a:rPr lang="en-US" sz="2000" b="1" dirty="0" smtClean="0"/>
              <a:t>🔹 Lightweight &amp; Customizable</a:t>
            </a:r>
          </a:p>
          <a:p>
            <a:r>
              <a:rPr lang="en-US" sz="2000" dirty="0" smtClean="0"/>
              <a:t>Built using Flask and React, making it easy to extend and deploy.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2461" y="419100"/>
            <a:ext cx="11816715" cy="15997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380" dirty="0"/>
              <a:t>TECHNOLOGY</a:t>
            </a:r>
            <a:r>
              <a:rPr spc="-200" dirty="0"/>
              <a:t> </a:t>
            </a:r>
            <a:r>
              <a:rPr spc="-695" dirty="0"/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16495377" y="7120455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 descr="0b011c8c-abe6-49c0-9871-74743217f41c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54000" y="1905000"/>
            <a:ext cx="5334000" cy="3619500"/>
          </a:xfrm>
          <a:prstGeom prst="rect">
            <a:avLst/>
          </a:prstGeom>
        </p:spPr>
      </p:pic>
      <p:pic>
        <p:nvPicPr>
          <p:cNvPr id="20" name="Picture 19" descr="67fa7393-a28b-4dae-94a1-bc906e7f26f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54000" y="5905500"/>
            <a:ext cx="5334000" cy="3962400"/>
          </a:xfrm>
          <a:prstGeom prst="rect">
            <a:avLst/>
          </a:prstGeom>
        </p:spPr>
      </p:pic>
      <p:pic>
        <p:nvPicPr>
          <p:cNvPr id="21" name="Picture 20" descr="PYTHON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15600" y="8724900"/>
            <a:ext cx="2286000" cy="1562100"/>
          </a:xfrm>
          <a:prstGeom prst="rect">
            <a:avLst/>
          </a:prstGeom>
        </p:spPr>
      </p:pic>
      <p:pic>
        <p:nvPicPr>
          <p:cNvPr id="22" name="Picture 21" descr="JS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15400" y="8801100"/>
            <a:ext cx="1520190" cy="1485900"/>
          </a:xfrm>
          <a:prstGeom prst="rect">
            <a:avLst/>
          </a:prstGeom>
        </p:spPr>
      </p:pic>
      <p:pic>
        <p:nvPicPr>
          <p:cNvPr id="23" name="Picture 22" descr="React-ic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315200" y="8801100"/>
            <a:ext cx="1481430" cy="1485900"/>
          </a:xfrm>
          <a:prstGeom prst="rect">
            <a:avLst/>
          </a:prstGeom>
        </p:spPr>
      </p:pic>
      <p:pic>
        <p:nvPicPr>
          <p:cNvPr id="24" name="Picture 23" descr="tailwind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038600" y="6591300"/>
            <a:ext cx="3505200" cy="3111660"/>
          </a:xfrm>
          <a:prstGeom prst="rect">
            <a:avLst/>
          </a:prstGeom>
        </p:spPr>
      </p:pic>
      <p:pic>
        <p:nvPicPr>
          <p:cNvPr id="25" name="Picture 24" descr="tesseract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05400" y="8907780"/>
            <a:ext cx="2125980" cy="1379220"/>
          </a:xfrm>
          <a:prstGeom prst="rect">
            <a:avLst/>
          </a:prstGeom>
        </p:spPr>
      </p:pic>
      <p:pic>
        <p:nvPicPr>
          <p:cNvPr id="26" name="Picture 25" descr="flask-python-web-framework-representational-state-transfer-software-framework-flask-python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819400" y="8801100"/>
            <a:ext cx="2209800" cy="1485900"/>
          </a:xfrm>
          <a:prstGeom prst="rect">
            <a:avLst/>
          </a:prstGeom>
        </p:spPr>
      </p:pic>
      <p:pic>
        <p:nvPicPr>
          <p:cNvPr id="28" name="Picture 27" descr="free-rest-api-blue-logo-icon-22098-thumb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772400" y="7124700"/>
            <a:ext cx="2666391" cy="1571076"/>
          </a:xfrm>
          <a:prstGeom prst="rect">
            <a:avLst/>
          </a:prstGeom>
        </p:spPr>
      </p:pic>
      <p:pic>
        <p:nvPicPr>
          <p:cNvPr id="29" name="Picture 28" descr="images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515600" y="7353300"/>
            <a:ext cx="2286000" cy="1280160"/>
          </a:xfrm>
          <a:prstGeom prst="rect">
            <a:avLst/>
          </a:prstGeom>
        </p:spPr>
      </p:pic>
      <p:pic>
        <p:nvPicPr>
          <p:cNvPr id="31" name="Picture 30" descr="pngtree-json-file-document-icon-png-image_4166451.jp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228600" y="8801100"/>
            <a:ext cx="2286000" cy="14859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04800" y="1866900"/>
            <a:ext cx="11887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lang="en-US" b="1" dirty="0" smtClean="0"/>
              <a:t> </a:t>
            </a:r>
            <a:r>
              <a:rPr lang="en-US" sz="2400" b="1" dirty="0" smtClean="0"/>
              <a:t>Python</a:t>
            </a:r>
            <a:r>
              <a:rPr lang="en-US" sz="2400" dirty="0" smtClean="0"/>
              <a:t> – The core backend programming language used for processing logic.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Flask</a:t>
            </a:r>
            <a:r>
              <a:rPr lang="en-US" sz="2400" dirty="0" smtClean="0"/>
              <a:t> – A lightweight Python web framework used to build REST APIs.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Tailwind CSS</a:t>
            </a:r>
            <a:r>
              <a:rPr lang="en-US" sz="2400" dirty="0" smtClean="0"/>
              <a:t> – A utility-first CSS framework used to design a modern and responsive UI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React</a:t>
            </a:r>
            <a:r>
              <a:rPr lang="en-US" sz="2400" dirty="0" smtClean="0"/>
              <a:t> – A JavaScript library used to build dynamic and component-based user interfaces.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</a:t>
            </a:r>
            <a:r>
              <a:rPr lang="en-US" sz="2400" b="1" dirty="0" err="1" smtClean="0"/>
              <a:t>Vite</a:t>
            </a:r>
            <a:r>
              <a:rPr lang="en-US" sz="2400" dirty="0" smtClean="0"/>
              <a:t> – A fast frontend build tool that provides optimized development and production builds.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.</a:t>
            </a:r>
            <a:r>
              <a:rPr lang="en-US" sz="2400" b="1" dirty="0" err="1" smtClean="0"/>
              <a:t>PostCSS</a:t>
            </a:r>
            <a:r>
              <a:rPr lang="en-US" sz="2400" dirty="0" smtClean="0"/>
              <a:t> – A tool that processes CSS and enhances styling capabilities.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JavaScript </a:t>
            </a:r>
            <a:r>
              <a:rPr lang="en-US" sz="2400" dirty="0" smtClean="0"/>
              <a:t>– Used for frontend logic, interactivity, and API communication.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JSON</a:t>
            </a:r>
            <a:r>
              <a:rPr lang="en-US" sz="2400" dirty="0" smtClean="0"/>
              <a:t> – A structured data format used to exchange information between frontend and backend.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REST API</a:t>
            </a:r>
            <a:r>
              <a:rPr lang="en-US" sz="2400" dirty="0" smtClean="0"/>
              <a:t> – A communication method that allows the frontend and backend to exchange data over HTTP.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b="1" dirty="0" smtClean="0"/>
              <a:t> </a:t>
            </a:r>
            <a:r>
              <a:rPr lang="en-US" sz="2400" b="1" dirty="0" err="1" smtClean="0"/>
              <a:t>GitHub</a:t>
            </a:r>
            <a:r>
              <a:rPr lang="en-US" sz="2400" dirty="0" smtClean="0"/>
              <a:t> – A version control system used to manage and track project changes.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95377" y="7120455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1600" y="-190500"/>
            <a:ext cx="16306800" cy="1965131"/>
          </a:xfrm>
          <a:prstGeom prst="rect">
            <a:avLst/>
          </a:prstGeom>
        </p:spPr>
        <p:txBody>
          <a:bodyPr vert="horz" wrap="square" lIns="0" tIns="921998" rIns="0" bIns="0" rtlCol="0">
            <a:spAutoFit/>
          </a:bodyPr>
          <a:lstStyle/>
          <a:p>
            <a:pPr marL="1174750" marR="5080">
              <a:lnSpc>
                <a:spcPct val="70100"/>
              </a:lnSpc>
              <a:spcBef>
                <a:spcPts val="3810"/>
              </a:spcBef>
            </a:pPr>
            <a:r>
              <a:rPr sz="9600" spc="-550" dirty="0" smtClean="0"/>
              <a:t>FEASIBILITY</a:t>
            </a:r>
            <a:r>
              <a:rPr lang="en-US" sz="9600" spc="-225" dirty="0" smtClean="0"/>
              <a:t>/</a:t>
            </a:r>
            <a:r>
              <a:rPr sz="9600" spc="-80" dirty="0" smtClean="0"/>
              <a:t>METHODOLOGY</a:t>
            </a:r>
            <a:endParaRPr sz="9600" spc="-80" dirty="0"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1927860" cy="2903220"/>
          </a:xfrm>
          <a:custGeom>
            <a:avLst/>
            <a:gdLst/>
            <a:ahLst/>
            <a:cxnLst/>
            <a:rect l="l" t="t" r="r" b="b"/>
            <a:pathLst>
              <a:path w="1927860" h="290322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Picture 16" descr="9667f000-aa30-4f95-89bd-27a231dbb75d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887200" y="1638300"/>
            <a:ext cx="6400800" cy="3848100"/>
          </a:xfrm>
          <a:prstGeom prst="rect">
            <a:avLst/>
          </a:prstGeom>
        </p:spPr>
      </p:pic>
      <p:pic>
        <p:nvPicPr>
          <p:cNvPr id="18" name="Picture 17" descr="pipeline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811000" y="5753100"/>
            <a:ext cx="6477000" cy="4533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2247900"/>
            <a:ext cx="46217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u="sng" dirty="0" smtClean="0"/>
              <a:t>Feasibility of </a:t>
            </a:r>
            <a:r>
              <a:rPr lang="en-US" sz="3200" b="1" i="1" u="sng" dirty="0" err="1" smtClean="0"/>
              <a:t>AuditDoc</a:t>
            </a:r>
            <a:endParaRPr lang="en-US" sz="3200" b="1" i="1" u="sng" dirty="0"/>
          </a:p>
        </p:txBody>
      </p:sp>
      <p:sp>
        <p:nvSpPr>
          <p:cNvPr id="20" name="TextBox 19"/>
          <p:cNvSpPr txBox="1"/>
          <p:nvPr/>
        </p:nvSpPr>
        <p:spPr>
          <a:xfrm>
            <a:off x="228601" y="3009900"/>
            <a:ext cx="49530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1. Technical Feasibility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400" dirty="0" smtClean="0"/>
              <a:t>Built using widely used technologies (React, Flask, Python).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No expensive or rare infrastructure required.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REST API architecture makes integration simple.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Can run on a basic local server or cloud platform.</a:t>
            </a:r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04800" y="6972300"/>
            <a:ext cx="45720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2. Economic Feasibility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400" dirty="0" smtClean="0"/>
              <a:t>Uses open-source tools (React, Flask, Tailwind CSS).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No licensing cost required.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Low development cost.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Can reduce operational cost by automating manual auditing.</a:t>
            </a:r>
          </a:p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172200" y="2933700"/>
            <a:ext cx="47628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3. Operational Feasibility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400" dirty="0" smtClean="0"/>
              <a:t>Simple user interface.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Minimal training required.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Easily adoptable by finance and audit teams.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Improves workflow efficiency.</a:t>
            </a:r>
          </a:p>
          <a:p>
            <a:endParaRPr lang="en-US" sz="2400" dirty="0"/>
          </a:p>
        </p:txBody>
      </p:sp>
      <p:sp>
        <p:nvSpPr>
          <p:cNvPr id="23" name="TextBox 22"/>
          <p:cNvSpPr txBox="1"/>
          <p:nvPr/>
        </p:nvSpPr>
        <p:spPr>
          <a:xfrm>
            <a:off x="6400801" y="6134100"/>
            <a:ext cx="48006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4. Scalability Feasibility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sz="2400" dirty="0" smtClean="0"/>
              <a:t>Modular frontend-backend architecture.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Can be deployed on cloud infrastructure.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 Can support database integration and multi-user systems.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95377" y="7120455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28013" y="0"/>
            <a:ext cx="7523480" cy="159979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300" b="1" spc="-305" dirty="0">
                <a:solidFill>
                  <a:srgbClr val="2F2F2F"/>
                </a:solidFill>
                <a:latin typeface="Trebuchet MS"/>
                <a:cs typeface="Trebuchet MS"/>
              </a:rPr>
              <a:t>CONCLUSION</a:t>
            </a:r>
            <a:endParaRPr sz="103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927860" cy="2903220"/>
          </a:xfrm>
          <a:custGeom>
            <a:avLst/>
            <a:gdLst/>
            <a:ahLst/>
            <a:cxnLst/>
            <a:rect l="l" t="t" r="r" b="b"/>
            <a:pathLst>
              <a:path w="1927860" h="290322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1714500"/>
            <a:ext cx="161544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sz="3200" dirty="0" err="1" smtClean="0"/>
              <a:t>AuditDoc</a:t>
            </a:r>
            <a:r>
              <a:rPr lang="en-US" sz="3200" dirty="0" smtClean="0"/>
              <a:t> was developed to address the challenge of manual and time-consuming document auditing.</a:t>
            </a:r>
            <a:br>
              <a:rPr lang="en-US" sz="3200" dirty="0" smtClean="0"/>
            </a:br>
            <a:r>
              <a:rPr lang="en-US" sz="3200" dirty="0" smtClean="0"/>
              <a:t>The project demonstrates how automation can simplify repetitive verification tasks.</a:t>
            </a:r>
            <a:br>
              <a:rPr lang="en-US" sz="3200" dirty="0" smtClean="0"/>
            </a:br>
            <a:r>
              <a:rPr lang="en-US" sz="3200" dirty="0" smtClean="0"/>
              <a:t>By integrating React and Flask, a complete full-stack solution was successfully built.</a:t>
            </a:r>
            <a:br>
              <a:rPr lang="en-US" sz="3200" dirty="0" smtClean="0"/>
            </a:br>
            <a:r>
              <a:rPr lang="en-US" sz="3200" dirty="0" smtClean="0"/>
              <a:t>The system processes documents efficiently and generates structured outputs.</a:t>
            </a:r>
            <a:br>
              <a:rPr lang="en-US" sz="3200" dirty="0" smtClean="0"/>
            </a:br>
            <a:r>
              <a:rPr lang="en-US" sz="3200" dirty="0" smtClean="0"/>
              <a:t>It improves accuracy while reducing human effort.</a:t>
            </a:r>
            <a:br>
              <a:rPr lang="en-US" sz="3200" dirty="0" smtClean="0"/>
            </a:br>
            <a:r>
              <a:rPr lang="en-US" sz="3200" dirty="0" smtClean="0"/>
              <a:t>The interactive dashboard makes results easy to understand.</a:t>
            </a:r>
            <a:br>
              <a:rPr lang="en-US" sz="3200" dirty="0" smtClean="0"/>
            </a:br>
            <a:r>
              <a:rPr lang="en-US" sz="3200" dirty="0" smtClean="0"/>
              <a:t>The architecture is modular and scalable for future enhancements.</a:t>
            </a:r>
            <a:br>
              <a:rPr lang="en-US" sz="3200" dirty="0" smtClean="0"/>
            </a:br>
            <a:r>
              <a:rPr lang="en-US" sz="3200" dirty="0" smtClean="0"/>
              <a:t>This project reflects practical implementation of modern web technologies.</a:t>
            </a:r>
            <a:br>
              <a:rPr lang="en-US" sz="3200" dirty="0" smtClean="0"/>
            </a:br>
            <a:r>
              <a:rPr lang="en-US" sz="3200" dirty="0" smtClean="0"/>
              <a:t>It also highlights problem-solving and system design skills.</a:t>
            </a:r>
            <a:br>
              <a:rPr lang="en-US" sz="3200" dirty="0" smtClean="0"/>
            </a:br>
            <a:r>
              <a:rPr lang="en-US" sz="3200" dirty="0" smtClean="0"/>
              <a:t>Overall, </a:t>
            </a:r>
            <a:r>
              <a:rPr lang="en-US" sz="3200" dirty="0" err="1" smtClean="0"/>
              <a:t>AuditDoc</a:t>
            </a:r>
            <a:r>
              <a:rPr lang="en-US" sz="3200" dirty="0" smtClean="0"/>
              <a:t> lays a strong foundation for intelligent document automation solutions.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65835" rIns="0" bIns="0" rtlCol="0">
            <a:spAutoFit/>
          </a:bodyPr>
          <a:lstStyle/>
          <a:p>
            <a:pPr marL="1322070" marR="5080" indent="-1310005">
              <a:lnSpc>
                <a:spcPct val="69700"/>
              </a:lnSpc>
              <a:spcBef>
                <a:spcPts val="7605"/>
              </a:spcBef>
            </a:pPr>
            <a:r>
              <a:rPr sz="20650" spc="-1220" dirty="0"/>
              <a:t>THANK </a:t>
            </a:r>
            <a:r>
              <a:rPr sz="20650" spc="-434" dirty="0"/>
              <a:t>YOU</a:t>
            </a:r>
            <a:endParaRPr sz="20650"/>
          </a:p>
        </p:txBody>
      </p:sp>
      <p:sp>
        <p:nvSpPr>
          <p:cNvPr id="3" name="object 3"/>
          <p:cNvSpPr/>
          <p:nvPr/>
        </p:nvSpPr>
        <p:spPr>
          <a:xfrm>
            <a:off x="16495377" y="7120455"/>
            <a:ext cx="1793239" cy="3166745"/>
          </a:xfrm>
          <a:custGeom>
            <a:avLst/>
            <a:gdLst/>
            <a:ahLst/>
            <a:cxnLst/>
            <a:rect l="l" t="t" r="r" b="b"/>
            <a:pathLst>
              <a:path w="1793240" h="3166745">
                <a:moveTo>
                  <a:pt x="1792622" y="0"/>
                </a:moveTo>
                <a:lnTo>
                  <a:pt x="1792622" y="3166544"/>
                </a:lnTo>
                <a:lnTo>
                  <a:pt x="0" y="3166544"/>
                </a:lnTo>
                <a:lnTo>
                  <a:pt x="0" y="2774819"/>
                </a:lnTo>
                <a:lnTo>
                  <a:pt x="3284" y="2726006"/>
                </a:lnTo>
                <a:lnTo>
                  <a:pt x="12850" y="2679189"/>
                </a:lnTo>
                <a:lnTo>
                  <a:pt x="28270" y="2634796"/>
                </a:lnTo>
                <a:lnTo>
                  <a:pt x="49115" y="2593257"/>
                </a:lnTo>
                <a:lnTo>
                  <a:pt x="74955" y="2554999"/>
                </a:lnTo>
                <a:lnTo>
                  <a:pt x="105364" y="2520451"/>
                </a:lnTo>
                <a:lnTo>
                  <a:pt x="139911" y="2490043"/>
                </a:lnTo>
                <a:lnTo>
                  <a:pt x="178169" y="2464202"/>
                </a:lnTo>
                <a:lnTo>
                  <a:pt x="219709" y="2443358"/>
                </a:lnTo>
                <a:lnTo>
                  <a:pt x="264102" y="2427938"/>
                </a:lnTo>
                <a:lnTo>
                  <a:pt x="310919" y="2418372"/>
                </a:lnTo>
                <a:lnTo>
                  <a:pt x="359732" y="2415087"/>
                </a:lnTo>
                <a:lnTo>
                  <a:pt x="895040" y="2415087"/>
                </a:lnTo>
                <a:lnTo>
                  <a:pt x="943854" y="2411803"/>
                </a:lnTo>
                <a:lnTo>
                  <a:pt x="990672" y="2402237"/>
                </a:lnTo>
                <a:lnTo>
                  <a:pt x="1035065" y="2386817"/>
                </a:lnTo>
                <a:lnTo>
                  <a:pt x="1076604" y="2365973"/>
                </a:lnTo>
                <a:lnTo>
                  <a:pt x="1114862" y="2340132"/>
                </a:lnTo>
                <a:lnTo>
                  <a:pt x="1149410" y="2309724"/>
                </a:lnTo>
                <a:lnTo>
                  <a:pt x="1179818" y="2275176"/>
                </a:lnTo>
                <a:lnTo>
                  <a:pt x="1205659" y="2236918"/>
                </a:lnTo>
                <a:lnTo>
                  <a:pt x="1226503" y="2195379"/>
                </a:lnTo>
                <a:lnTo>
                  <a:pt x="1241923" y="2150986"/>
                </a:lnTo>
                <a:lnTo>
                  <a:pt x="1251489" y="2104168"/>
                </a:lnTo>
                <a:lnTo>
                  <a:pt x="1254773" y="2055355"/>
                </a:lnTo>
                <a:lnTo>
                  <a:pt x="1254773" y="359732"/>
                </a:lnTo>
                <a:lnTo>
                  <a:pt x="1257892" y="312447"/>
                </a:lnTo>
                <a:lnTo>
                  <a:pt x="1267097" y="266372"/>
                </a:lnTo>
                <a:lnTo>
                  <a:pt x="1282156" y="222067"/>
                </a:lnTo>
                <a:lnTo>
                  <a:pt x="1302836" y="180091"/>
                </a:lnTo>
                <a:lnTo>
                  <a:pt x="1328907" y="141002"/>
                </a:lnTo>
                <a:lnTo>
                  <a:pt x="1360137" y="105361"/>
                </a:lnTo>
                <a:lnTo>
                  <a:pt x="1395779" y="74132"/>
                </a:lnTo>
                <a:lnTo>
                  <a:pt x="1434868" y="48061"/>
                </a:lnTo>
                <a:lnTo>
                  <a:pt x="1476844" y="27381"/>
                </a:lnTo>
                <a:lnTo>
                  <a:pt x="1521150" y="12323"/>
                </a:lnTo>
                <a:lnTo>
                  <a:pt x="1567225" y="3119"/>
                </a:lnTo>
                <a:lnTo>
                  <a:pt x="1614510" y="0"/>
                </a:lnTo>
                <a:lnTo>
                  <a:pt x="1792622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76644" y="8794574"/>
            <a:ext cx="3601085" cy="47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50" spc="-310" dirty="0">
                <a:latin typeface="Arial Black"/>
                <a:cs typeface="Arial Black"/>
              </a:rPr>
              <a:t>TEAM</a:t>
            </a:r>
            <a:r>
              <a:rPr sz="2950" spc="-215" dirty="0">
                <a:latin typeface="Arial Black"/>
                <a:cs typeface="Arial Black"/>
              </a:rPr>
              <a:t> </a:t>
            </a:r>
            <a:r>
              <a:rPr sz="2950" spc="-220" dirty="0" smtClean="0">
                <a:latin typeface="Arial Black"/>
                <a:cs typeface="Arial Black"/>
              </a:rPr>
              <a:t>(</a:t>
            </a:r>
            <a:r>
              <a:rPr lang="en-US" sz="2950" spc="-220" dirty="0" smtClean="0">
                <a:latin typeface="Arial Black"/>
                <a:cs typeface="Arial Black"/>
              </a:rPr>
              <a:t>J&amp;K</a:t>
            </a:r>
            <a:r>
              <a:rPr sz="2950" spc="-105" dirty="0" smtClean="0">
                <a:latin typeface="Arial Black"/>
                <a:cs typeface="Arial Black"/>
              </a:rPr>
              <a:t>)</a:t>
            </a:r>
            <a:endParaRPr sz="2950" dirty="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1927860" cy="2903220"/>
          </a:xfrm>
          <a:custGeom>
            <a:avLst/>
            <a:gdLst/>
            <a:ahLst/>
            <a:cxnLst/>
            <a:rect l="l" t="t" r="r" b="b"/>
            <a:pathLst>
              <a:path w="1927860" h="2903220">
                <a:moveTo>
                  <a:pt x="0" y="2903095"/>
                </a:moveTo>
                <a:lnTo>
                  <a:pt x="0" y="0"/>
                </a:lnTo>
                <a:lnTo>
                  <a:pt x="1927611" y="0"/>
                </a:lnTo>
                <a:lnTo>
                  <a:pt x="1927611" y="128274"/>
                </a:lnTo>
                <a:lnTo>
                  <a:pt x="1924327" y="177088"/>
                </a:lnTo>
                <a:lnTo>
                  <a:pt x="1914761" y="223905"/>
                </a:lnTo>
                <a:lnTo>
                  <a:pt x="1899341" y="268298"/>
                </a:lnTo>
                <a:lnTo>
                  <a:pt x="1878496" y="309838"/>
                </a:lnTo>
                <a:lnTo>
                  <a:pt x="1852655" y="348095"/>
                </a:lnTo>
                <a:lnTo>
                  <a:pt x="1822247" y="382643"/>
                </a:lnTo>
                <a:lnTo>
                  <a:pt x="1787700" y="413051"/>
                </a:lnTo>
                <a:lnTo>
                  <a:pt x="1749442" y="438892"/>
                </a:lnTo>
                <a:lnTo>
                  <a:pt x="1707902" y="459737"/>
                </a:lnTo>
                <a:lnTo>
                  <a:pt x="1663509" y="475157"/>
                </a:lnTo>
                <a:lnTo>
                  <a:pt x="1616692" y="484723"/>
                </a:lnTo>
                <a:lnTo>
                  <a:pt x="1567878" y="488007"/>
                </a:lnTo>
                <a:lnTo>
                  <a:pt x="1032571" y="488007"/>
                </a:lnTo>
                <a:lnTo>
                  <a:pt x="983758" y="491291"/>
                </a:lnTo>
                <a:lnTo>
                  <a:pt x="936940" y="500857"/>
                </a:lnTo>
                <a:lnTo>
                  <a:pt x="892547" y="516277"/>
                </a:lnTo>
                <a:lnTo>
                  <a:pt x="851007" y="537121"/>
                </a:lnTo>
                <a:lnTo>
                  <a:pt x="812749" y="562962"/>
                </a:lnTo>
                <a:lnTo>
                  <a:pt x="778202" y="593371"/>
                </a:lnTo>
                <a:lnTo>
                  <a:pt x="747793" y="627918"/>
                </a:lnTo>
                <a:lnTo>
                  <a:pt x="721952" y="666176"/>
                </a:lnTo>
                <a:lnTo>
                  <a:pt x="701108" y="707716"/>
                </a:lnTo>
                <a:lnTo>
                  <a:pt x="685688" y="752109"/>
                </a:lnTo>
                <a:lnTo>
                  <a:pt x="676122" y="798927"/>
                </a:lnTo>
                <a:lnTo>
                  <a:pt x="672838" y="847740"/>
                </a:lnTo>
                <a:lnTo>
                  <a:pt x="672838" y="2543363"/>
                </a:lnTo>
                <a:lnTo>
                  <a:pt x="669719" y="2590648"/>
                </a:lnTo>
                <a:lnTo>
                  <a:pt x="660514" y="2636722"/>
                </a:lnTo>
                <a:lnTo>
                  <a:pt x="645455" y="2681027"/>
                </a:lnTo>
                <a:lnTo>
                  <a:pt x="624774" y="2723003"/>
                </a:lnTo>
                <a:lnTo>
                  <a:pt x="598703" y="2762092"/>
                </a:lnTo>
                <a:lnTo>
                  <a:pt x="567474" y="2797733"/>
                </a:lnTo>
                <a:lnTo>
                  <a:pt x="531832" y="2828963"/>
                </a:lnTo>
                <a:lnTo>
                  <a:pt x="492743" y="2855033"/>
                </a:lnTo>
                <a:lnTo>
                  <a:pt x="450767" y="2875713"/>
                </a:lnTo>
                <a:lnTo>
                  <a:pt x="406462" y="2890771"/>
                </a:lnTo>
                <a:lnTo>
                  <a:pt x="360387" y="2899976"/>
                </a:lnTo>
                <a:lnTo>
                  <a:pt x="313102" y="2903095"/>
                </a:lnTo>
                <a:lnTo>
                  <a:pt x="0" y="2903095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675</Words>
  <Application>Microsoft Office PowerPoint</Application>
  <PresentationFormat>Custom</PresentationFormat>
  <Paragraphs>107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 INTRODUCTION </vt:lpstr>
      <vt:lpstr>SOLUTION /APPROACH</vt:lpstr>
      <vt:lpstr>TECHNOLOGY STACK</vt:lpstr>
      <vt:lpstr>FEASIBILITY/METHODOLOGY</vt:lpstr>
      <vt:lpstr>Slide 6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EDV - PPT TEMPLATE</dc:title>
  <dc:creator>Uncle Fab</dc:creator>
  <cp:keywords>DAG06g3kBCI,BAGb53catEI,0</cp:keywords>
  <cp:lastModifiedBy>WIN</cp:lastModifiedBy>
  <cp:revision>2</cp:revision>
  <dcterms:created xsi:type="dcterms:W3CDTF">2026-01-09T16:55:17Z</dcterms:created>
  <dcterms:modified xsi:type="dcterms:W3CDTF">2026-02-18T09:05:57Z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2026-01-09T00:00:00Z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